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دمة" id="{948e8703-03a6-7db2-78ca-52dc8764f1b8}">
          <p14:sldIdLst>
            <p14:sldId id="256"/>
          </p14:sldIdLst>
        </p14:section>
        <p14:section name="المشكلة والحل" id="{475cd793-61e3-811e-bdd7-629d7c53b0ce}">
          <p14:sldIdLst>
            <p14:sldId id="257"/>
            <p14:sldId id="258"/>
          </p14:sldIdLst>
        </p14:section>
        <p14:section name="التفويض والأمان" id="{55560d20-c237-8b2a-2bff-be689ca3daa3}">
          <p14:sldIdLst>
            <p14:sldId id="259"/>
            <p14:sldId id="260"/>
          </p14:sldIdLst>
        </p14:section>
        <p14:section name="النتائج" id="{1eb16379-586d-f0f4-9b9c-66517e2b11f7}">
          <p14:sldIdLst>
            <p14:sldId id="261"/>
          </p14:sldIdLst>
        </p14:section>
        <p14:section name="التحقق والتبنّي" id="{5190740f-eb35-af97-cfc5-89ad20fe8672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الدقيقة 0: عرّف المشروع في جملة واحدة. وكيل بريد يقرأ ويصنّف ويستخرج المواعيد ويجهّز مسودات فقط، ولا يرسل شيئًا.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الدقيقة 0:30. المشكلة ملموسة: فرز الرسائل يدويًا ثم البحث عن المواعيد. 36 دقيقة لـ41 رسالة. أول 13 رسالة: 25 دقيقة (حوالي 5 قراءة وحوالي 20 بحث تقدير)، والباقي مستقرأ.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الدقيقة 1:00. اشرح التسلسل ثم شغّل العرض الحي: وسم رسائل، تشغيل الوكيل، عرض الجدول.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الدقيقة 1:45. التفويض بحدود واضحة. الأهم: الوكيل لا يرسل ولا يحذف، والإنسان يتحقق.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الدقيقة 2:30. اذكر الاختبار بصدق: اختبار واحد ذاتي الإرسال.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الدقيقة 3:15. اعرض الرقم، ثم وضّح المنهجية: دفعتان، اختبار واحد على 41 رسالة: «بعد» مقيس لأول 13 رسالة والباقي مقدّر منه. قل ذلك بصراحة إن سُئلت.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الدقيقة 4:00. الصراحة في الحدود تُحسب لصالح المشروع. قل شفهيًا: «بعد» مقيس لأول 13 رسالة والباقي مقدَّر منها.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الدقيقة 4:30. اختم بالتبنّي ثم افتح العرض المباشر. جهّز لقطات شاشة احتياطية.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72591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وكيل البريد الدراسي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725912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DCE6F2"/>
                </a:solidFill>
              </a:rPr>
              <a:t>وكيل ذكاء اصطناعي يقرأ بريدي الدراسي، يصنّفه، ويستخرج المواعيد، ويجهّز مسودات الردود — بإشرافي الكامل</a:t>
            </a:r>
            <a:endParaRPr lang="en-US" sz="2200" dirty="0"/>
          </a:p>
        </p:txBody>
      </p:sp>
      <p:sp>
        <p:nvSpPr>
          <p:cNvPr id="4" name="accent"/>
          <p:cNvSpPr/>
          <p:nvPr/>
        </p:nvSpPr>
        <p:spPr>
          <a:xfrm>
            <a:off x="9994392" y="4297680"/>
            <a:ext cx="1463040" cy="5486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0"/>
            <a:ext cx="1072591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CE6F2"/>
                </a:solidFill>
              </a:rPr>
              <a:t>بندر خشرم  |  مشروع التخرج لدورة رفع الإنتاجية بالذكاء الاصطناعي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المشكلة: مواعيدي الدراسية مدفونة في البريد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8165592" y="1554480"/>
            <a:ext cx="3383280" cy="237744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48472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≈ 0.9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348472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دقيقة لفرز الرسالة الواحدة يدويًا</a:t>
            </a:r>
            <a:endParaRPr lang="en-US" sz="1600" dirty="0"/>
          </a:p>
        </p:txBody>
      </p:sp>
      <p:sp>
        <p:nvSpPr>
          <p:cNvPr id="7" name="card1"/>
          <p:cNvSpPr/>
          <p:nvPr/>
        </p:nvSpPr>
        <p:spPr>
          <a:xfrm>
            <a:off x="4553712" y="1554480"/>
            <a:ext cx="3383280" cy="237744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36592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≈ 36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736592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دقيقة لفرز 41 رسالة يدويًا (قراءة + بحث)</a:t>
            </a:r>
            <a:endParaRPr lang="en-US" sz="1600" dirty="0"/>
          </a:p>
        </p:txBody>
      </p:sp>
      <p:sp>
        <p:nvSpPr>
          <p:cNvPr id="10" name="card2"/>
          <p:cNvSpPr/>
          <p:nvPr/>
        </p:nvSpPr>
        <p:spPr>
          <a:xfrm>
            <a:off x="941832" y="1554480"/>
            <a:ext cx="3383280" cy="237744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24712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اختبارات منتصف فصل مدفونة بين رسائل كثيرة غير مهمة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80560"/>
            <a:ext cx="1109167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النتيجة: وقت ضائع، وخطر أن يفوتني موعد اختبار أو تسجيل.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كيف يعمل الوكيل</a:t>
            </a:r>
            <a:endParaRPr lang="en-US" sz="3000" dirty="0"/>
          </a:p>
        </p:txBody>
      </p:sp>
      <p:sp>
        <p:nvSpPr>
          <p:cNvPr id="4" name="step0"/>
          <p:cNvSpPr/>
          <p:nvPr/>
        </p:nvSpPr>
        <p:spPr>
          <a:xfrm>
            <a:off x="9582912" y="1828800"/>
            <a:ext cx="2057400" cy="292608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2912" y="1965960"/>
            <a:ext cx="2057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١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674352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أضع وسمًا على الرسائل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74352" y="3520440"/>
            <a:ext cx="1874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Agent-Study</a:t>
            </a:r>
            <a:endParaRPr lang="en-US" sz="1300" dirty="0"/>
          </a:p>
        </p:txBody>
      </p:sp>
      <p:sp>
        <p:nvSpPr>
          <p:cNvPr id="8" name="step1"/>
          <p:cNvSpPr/>
          <p:nvPr/>
        </p:nvSpPr>
        <p:spPr>
          <a:xfrm>
            <a:off x="7342632" y="1828800"/>
            <a:ext cx="2057400" cy="292608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42632" y="1965960"/>
            <a:ext cx="2057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٢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434072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الوكيل يقرأ المحتوى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434072" y="3520440"/>
            <a:ext cx="1874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دون فتح أي رابط</a:t>
            </a:r>
            <a:endParaRPr lang="en-US" sz="1300" dirty="0"/>
          </a:p>
        </p:txBody>
      </p:sp>
      <p:sp>
        <p:nvSpPr>
          <p:cNvPr id="12" name="step2"/>
          <p:cNvSpPr/>
          <p:nvPr/>
        </p:nvSpPr>
        <p:spPr>
          <a:xfrm>
            <a:off x="5102352" y="1828800"/>
            <a:ext cx="2057400" cy="292608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1965960"/>
            <a:ext cx="2057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٣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193792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يصنّف ويستخرج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3520440"/>
            <a:ext cx="1874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الموعد والإجراء وهل يحتاج ردًا</a:t>
            </a:r>
            <a:endParaRPr lang="en-US" sz="1300" dirty="0"/>
          </a:p>
        </p:txBody>
      </p:sp>
      <p:sp>
        <p:nvSpPr>
          <p:cNvPr id="16" name="step3"/>
          <p:cNvSpPr/>
          <p:nvPr/>
        </p:nvSpPr>
        <p:spPr>
          <a:xfrm>
            <a:off x="2862072" y="1828800"/>
            <a:ext cx="2057400" cy="292608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62072" y="1965960"/>
            <a:ext cx="2057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٤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2953512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يجهّز مسودة فقط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953512" y="3520440"/>
            <a:ext cx="1874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لا إرسال ولا حذف</a:t>
            </a:r>
            <a:endParaRPr lang="en-US" sz="1300" dirty="0"/>
          </a:p>
        </p:txBody>
      </p:sp>
      <p:sp>
        <p:nvSpPr>
          <p:cNvPr id="20" name="step4"/>
          <p:cNvSpPr/>
          <p:nvPr/>
        </p:nvSpPr>
        <p:spPr>
          <a:xfrm>
            <a:off x="621792" y="1828800"/>
            <a:ext cx="2057400" cy="2926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1965960"/>
            <a:ext cx="2057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٥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أراجع وأقرّر أنا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520440"/>
            <a:ext cx="1874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الإنسان صاحب القرار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أدوات: موصّل Gmail (قراءة، وسوم، مسودات). لا صلاحية إرسال ولا حذف.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بطاقة التفويض: ماذا أفوّض وماذا أحتفظ به</a:t>
            </a:r>
            <a:endParaRPr lang="en-US" sz="3000" dirty="0"/>
          </a:p>
        </p:txBody>
      </p:sp>
      <p:sp>
        <p:nvSpPr>
          <p:cNvPr id="4" name="hd0"/>
          <p:cNvSpPr/>
          <p:nvPr/>
        </p:nvSpPr>
        <p:spPr>
          <a:xfrm>
            <a:off x="8074152" y="1554480"/>
            <a:ext cx="3566160" cy="640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74152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الوكيل يفعل</a:t>
            </a:r>
            <a:endParaRPr lang="en-US" sz="2000" dirty="0"/>
          </a:p>
        </p:txBody>
      </p:sp>
      <p:sp>
        <p:nvSpPr>
          <p:cNvPr id="6" name="bd0"/>
          <p:cNvSpPr/>
          <p:nvPr/>
        </p:nvSpPr>
        <p:spPr>
          <a:xfrm>
            <a:off x="8074152" y="2194560"/>
            <a:ext cx="3566160" cy="329184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57032" y="2377440"/>
            <a:ext cx="32004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قراءة الرسائل الموسومة فقط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تصنيفها: دراسي / فرصة / نشرة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استخراج المواعيد والإجراءات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تجهيز مسودة رد عند الحاجة</a:t>
            </a:r>
            <a:endParaRPr lang="en-US" sz="1600" dirty="0"/>
          </a:p>
        </p:txBody>
      </p:sp>
      <p:sp>
        <p:nvSpPr>
          <p:cNvPr id="8" name="hd1"/>
          <p:cNvSpPr/>
          <p:nvPr/>
        </p:nvSpPr>
        <p:spPr>
          <a:xfrm>
            <a:off x="4279392" y="1554480"/>
            <a:ext cx="356616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79392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أنا أفعل</a:t>
            </a:r>
            <a:endParaRPr lang="en-US" sz="2000" dirty="0"/>
          </a:p>
        </p:txBody>
      </p:sp>
      <p:sp>
        <p:nvSpPr>
          <p:cNvPr id="10" name="bd1"/>
          <p:cNvSpPr/>
          <p:nvPr/>
        </p:nvSpPr>
        <p:spPr>
          <a:xfrm>
            <a:off x="4279392" y="2194560"/>
            <a:ext cx="3566160" cy="329184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62272" y="2377440"/>
            <a:ext cx="32004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أضع الوسم وأحدد النطاق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أراجع الجدول والمسودات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أقرر الإرسال بنفسي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أتحقق من كل موعد قبل الاعتماد</a:t>
            </a:r>
            <a:endParaRPr lang="en-US" sz="1600" dirty="0"/>
          </a:p>
        </p:txBody>
      </p:sp>
      <p:sp>
        <p:nvSpPr>
          <p:cNvPr id="12" name="hd2"/>
          <p:cNvSpPr/>
          <p:nvPr/>
        </p:nvSpPr>
        <p:spPr>
          <a:xfrm>
            <a:off x="484632" y="1554480"/>
            <a:ext cx="3566160" cy="640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ممنوع على الوكيل</a:t>
            </a:r>
            <a:endParaRPr lang="en-US" sz="2000" dirty="0"/>
          </a:p>
        </p:txBody>
      </p:sp>
      <p:sp>
        <p:nvSpPr>
          <p:cNvPr id="14" name="bd2"/>
          <p:cNvSpPr/>
          <p:nvPr/>
        </p:nvSpPr>
        <p:spPr>
          <a:xfrm>
            <a:off x="484632" y="2194560"/>
            <a:ext cx="3566160" cy="329184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" y="2377440"/>
            <a:ext cx="32004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الإرسال أو الحذف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فتح الروابط أو المرفقات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قراءة رسائل البنوك أو رموز التحقق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تنفيذ أي أمر داخل نص الرسالة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الأمر الموجَّه وحماية الوكيل من الحقن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77356" y="1463040"/>
            <a:ext cx="536295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هيكل الأمر (RICE)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277356" y="2011680"/>
            <a:ext cx="5362956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الدور (Role): مساعد يفرز بريد طالب جامعي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التعليمات (Instruction): صنّف، استخرج الموعد، حدّد الحاجة لرد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السياق (Context): رسائل بوسم Agent-Study فقط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المثال/الصيغة (Example): جدول: مرسل، تصنيف، موعد، إجراء، رد؟</a:t>
            </a:r>
            <a:endParaRPr lang="en-US" sz="1600" dirty="0"/>
          </a:p>
        </p:txBody>
      </p:sp>
      <p:sp>
        <p:nvSpPr>
          <p:cNvPr id="6" name="inj"/>
          <p:cNvSpPr/>
          <p:nvPr/>
        </p:nvSpPr>
        <p:spPr>
          <a:xfrm>
            <a:off x="548640" y="1463040"/>
            <a:ext cx="5362956" cy="4023360"/>
          </a:xfrm>
          <a:prstGeom prst="rect">
            <a:avLst/>
          </a:prstGeom>
          <a:solidFill>
            <a:srgbClr val="FDF3F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99719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اختبار حقن الأوامر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4997196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أرسلتُ لنفسي رسالة تحتوي أمرًا مخفيًا يطلب من الوكيل تجاهل التعليمات.</a:t>
            </a:r>
            <a:endParaRPr lang="en-US" sz="1500" dirty="0"/>
          </a:p>
          <a:p>
            <a:pPr rtl="1" algn="r" indent="0" marL="0">
              <a:buNone/>
            </a:pPr>
            <a:endParaRPr lang="en-US" sz="1500" dirty="0"/>
          </a:p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القاعدة: محتوى الرسالة بيانات للقراءة، وليس أوامر.</a:t>
            </a:r>
            <a:endParaRPr lang="en-US" sz="1500" dirty="0"/>
          </a:p>
          <a:p>
            <a:pPr rtl="1" algn="r" indent="0" marL="0">
              <a:buNone/>
            </a:pPr>
            <a:endParaRPr lang="en-US" sz="1500" dirty="0"/>
          </a:p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النتيجة: الوكيل تعامل معه كنص عادي ولم ينفّذه.</a:t>
            </a:r>
            <a:endParaRPr lang="en-US" sz="1500" dirty="0"/>
          </a:p>
          <a:p>
            <a:pPr rtl="1" algn="r" indent="0" marL="0">
              <a:buNone/>
            </a:pPr>
            <a:endParaRPr lang="en-US" sz="1500" dirty="0"/>
          </a:p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تحفظ: اختبار واحد ذاتي الإرسال، ويحتاج توسيعًا.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النتائج: من 36 دقيقة إلى 3.5 دقيقة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77356" y="1463040"/>
            <a:ext cx="536295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زمن فرز 41 رسالة (دقيقة)</a:t>
            </a:r>
            <a:endParaRPr lang="en-US" sz="1600" dirty="0"/>
          </a:p>
        </p:txBody>
      </p:sp>
      <p:sp>
        <p:nvSpPr>
          <p:cNvPr id="5" name="bar0"/>
          <p:cNvSpPr/>
          <p:nvPr/>
        </p:nvSpPr>
        <p:spPr>
          <a:xfrm>
            <a:off x="7008876" y="2377440"/>
            <a:ext cx="1463040" cy="265176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08876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36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25996" y="5120640"/>
            <a:ext cx="1828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قبل (يدوي)</a:t>
            </a:r>
            <a:endParaRPr lang="en-US" sz="1400" dirty="0"/>
          </a:p>
        </p:txBody>
      </p:sp>
      <p:sp>
        <p:nvSpPr>
          <p:cNvPr id="8" name="bar1"/>
          <p:cNvSpPr/>
          <p:nvPr/>
        </p:nvSpPr>
        <p:spPr>
          <a:xfrm>
            <a:off x="9294876" y="4771390"/>
            <a:ext cx="1463040" cy="25781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94876" y="4268470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3.5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111996" y="5120640"/>
            <a:ext cx="1828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بعد (بالوكيل)</a:t>
            </a:r>
            <a:endParaRPr lang="en-US" sz="1400" dirty="0"/>
          </a:p>
        </p:txBody>
      </p:sp>
      <p:sp>
        <p:nvSpPr>
          <p:cNvPr id="11" name="axis"/>
          <p:cNvSpPr/>
          <p:nvPr/>
        </p:nvSpPr>
        <p:spPr>
          <a:xfrm>
            <a:off x="6643116" y="5029200"/>
            <a:ext cx="4631436" cy="18288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2" name="k0"/>
          <p:cNvSpPr/>
          <p:nvPr/>
        </p:nvSpPr>
        <p:spPr>
          <a:xfrm>
            <a:off x="3383280" y="1554480"/>
            <a:ext cx="2651760" cy="182880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90%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توفير في الوقت</a:t>
            </a:r>
            <a:endParaRPr lang="en-US" sz="1500" dirty="0"/>
          </a:p>
        </p:txBody>
      </p:sp>
      <p:sp>
        <p:nvSpPr>
          <p:cNvPr id="15" name="k1"/>
          <p:cNvSpPr/>
          <p:nvPr/>
        </p:nvSpPr>
        <p:spPr>
          <a:xfrm>
            <a:off x="548640" y="1554480"/>
            <a:ext cx="2651760" cy="182880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32.5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دقيقة موفَّرة</a:t>
            </a:r>
            <a:endParaRPr lang="en-US" sz="1500" dirty="0"/>
          </a:p>
        </p:txBody>
      </p:sp>
      <p:sp>
        <p:nvSpPr>
          <p:cNvPr id="18" name="k2"/>
          <p:cNvSpPr/>
          <p:nvPr/>
        </p:nvSpPr>
        <p:spPr>
          <a:xfrm>
            <a:off x="3383280" y="3657600"/>
            <a:ext cx="2651760" cy="182880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3840480"/>
            <a:ext cx="2651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41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رسالة في اختبار واحد</a:t>
            </a:r>
            <a:endParaRPr lang="en-US" sz="1500" dirty="0"/>
          </a:p>
        </p:txBody>
      </p:sp>
      <p:sp>
        <p:nvSpPr>
          <p:cNvPr id="21" name="k3"/>
          <p:cNvSpPr/>
          <p:nvPr/>
        </p:nvSpPr>
        <p:spPr>
          <a:xfrm>
            <a:off x="548640" y="3657600"/>
            <a:ext cx="2651760" cy="182880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840480"/>
            <a:ext cx="2651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رسالة أُرسلت أو حُذفت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التحقق والمسؤولية</a:t>
            </a:r>
            <a:endParaRPr lang="en-US" sz="3000" dirty="0"/>
          </a:p>
        </p:txBody>
      </p:sp>
      <p:sp>
        <p:nvSpPr>
          <p:cNvPr id="4" name="v0"/>
          <p:cNvSpPr/>
          <p:nvPr/>
        </p:nvSpPr>
        <p:spPr>
          <a:xfrm>
            <a:off x="11530584" y="1554480"/>
            <a:ext cx="109728" cy="8686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51676" y="1554480"/>
            <a:ext cx="4997196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ما تحققت منه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6003036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قارنت المواعيد المستخرجة بالرسائل الأصلية وبجدول الجامعة</a:t>
            </a:r>
            <a:endParaRPr lang="en-US" sz="1500" dirty="0"/>
          </a:p>
        </p:txBody>
      </p:sp>
      <p:sp>
        <p:nvSpPr>
          <p:cNvPr id="7" name="v1"/>
          <p:cNvSpPr/>
          <p:nvPr/>
        </p:nvSpPr>
        <p:spPr>
          <a:xfrm>
            <a:off x="11530584" y="2606040"/>
            <a:ext cx="109728" cy="8686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1676" y="2606040"/>
            <a:ext cx="4997196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ما وجدته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06040"/>
            <a:ext cx="6003036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رسائل بلا موعد صُنّفت «غير مذكور» ولم يخمّن الوكيل</a:t>
            </a:r>
            <a:endParaRPr lang="en-US" sz="1500" dirty="0"/>
          </a:p>
        </p:txBody>
      </p:sp>
      <p:sp>
        <p:nvSpPr>
          <p:cNvPr id="10" name="v2"/>
          <p:cNvSpPr/>
          <p:nvPr/>
        </p:nvSpPr>
        <p:spPr>
          <a:xfrm>
            <a:off x="11530584" y="3657600"/>
            <a:ext cx="109728" cy="8686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1676" y="3657600"/>
            <a:ext cx="4997196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الحالات الحدية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6003036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رسائل البنوك ورموز التحقق مستبعدة، والروابط لم تُفتح</a:t>
            </a:r>
            <a:endParaRPr lang="en-US" sz="1500" dirty="0"/>
          </a:p>
        </p:txBody>
      </p:sp>
      <p:sp>
        <p:nvSpPr>
          <p:cNvPr id="13" name="v3"/>
          <p:cNvSpPr/>
          <p:nvPr/>
        </p:nvSpPr>
        <p:spPr>
          <a:xfrm>
            <a:off x="11530584" y="4709160"/>
            <a:ext cx="109728" cy="8686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51676" y="4709160"/>
            <a:ext cx="4997196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حدود الوكيل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09160"/>
            <a:ext cx="6003036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لم تُنتج مسودات لأن الرسائل لم تتطلب ردودًا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القاعدة: الوكيل يقترح، وأنا أقرر.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الأثر وخطة التبنّي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الأثر المتوقع: ≈ ساعة ونصف شهريًا (تقدير بافتراض 28 رسالة أسبوعيًا)</a:t>
            </a:r>
            <a:endParaRPr lang="en-US" sz="1800" dirty="0"/>
          </a:p>
        </p:txBody>
      </p:sp>
      <p:sp>
        <p:nvSpPr>
          <p:cNvPr id="5" name="ad0"/>
          <p:cNvSpPr/>
          <p:nvPr/>
        </p:nvSpPr>
        <p:spPr>
          <a:xfrm>
            <a:off x="8074152" y="2651760"/>
            <a:ext cx="3566160" cy="219456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74152" y="2788920"/>
            <a:ext cx="3566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اليوم الأول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57032" y="3520440"/>
            <a:ext cx="32004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أحفظ الأمر الموجَّه وأنشئ الوسم</a:t>
            </a:r>
            <a:endParaRPr lang="en-US" sz="1600" dirty="0"/>
          </a:p>
        </p:txBody>
      </p:sp>
      <p:sp>
        <p:nvSpPr>
          <p:cNvPr id="8" name="ad1"/>
          <p:cNvSpPr/>
          <p:nvPr/>
        </p:nvSpPr>
        <p:spPr>
          <a:xfrm>
            <a:off x="4279392" y="2651760"/>
            <a:ext cx="3566160" cy="219456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79392" y="2788920"/>
            <a:ext cx="3566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الأسبوع الأول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3520440"/>
            <a:ext cx="32004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أشغّله يوميًا وأقيس الدقة</a:t>
            </a:r>
            <a:endParaRPr lang="en-US" sz="1600" dirty="0"/>
          </a:p>
        </p:txBody>
      </p:sp>
      <p:sp>
        <p:nvSpPr>
          <p:cNvPr id="11" name="ad2"/>
          <p:cNvSpPr/>
          <p:nvPr/>
        </p:nvSpPr>
        <p:spPr>
          <a:xfrm>
            <a:off x="484632" y="2651760"/>
            <a:ext cx="3566160" cy="2194560"/>
          </a:xfrm>
          <a:prstGeom prst="rect">
            <a:avLst/>
          </a:prstGeom>
          <a:solidFill>
            <a:schemeClr val="bg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" y="2788920"/>
            <a:ext cx="3566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اليوم الثلاثون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3520440"/>
            <a:ext cx="32004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أضيف مسودات الردود وأشاركه مع زميل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شكرًا — جاهز لعرض الوكيل مباشرة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 Agent">
  <a:themeElements>
    <a:clrScheme name="Study Agent">
      <a:dk1>
        <a:srgbClr val="1B2A41"/>
      </a:dk1>
      <a:lt1>
        <a:srgbClr val="FFFFFF"/>
      </a:lt1>
      <a:dk2>
        <a:srgbClr val="1F3A5F"/>
      </a:dk2>
      <a:lt2>
        <a:srgbClr val="F3F6FA"/>
      </a:lt2>
      <a:accent1>
        <a:srgbClr val="1F3A5F"/>
      </a:accent1>
      <a:accent2>
        <a:srgbClr val="0E9F8E"/>
      </a:accent2>
      <a:accent3>
        <a:srgbClr val="F2A900"/>
      </a:accent3>
      <a:accent4>
        <a:srgbClr val="C0392B"/>
      </a:accent4>
      <a:accent5>
        <a:srgbClr val="5B7BA6"/>
      </a:accent5>
      <a:accent6>
        <a:srgbClr val="8A9BB0"/>
      </a:accent6>
      <a:hlink>
        <a:srgbClr val="0E9F8E"/>
      </a:hlink>
      <a:folHlink>
        <a:srgbClr val="5B7BA6"/>
      </a:folHlink>
    </a:clrScheme>
    <a:fontScheme name="Study Agent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وكيل البريد الدراسي</dc:title>
  <dc:subject>PptxGenJS Presentation</dc:subject>
  <dc:creator>PptxGenJS</dc:creator>
  <cp:lastModifiedBy>PptxGenJS</cp:lastModifiedBy>
  <cp:revision>1</cp:revision>
  <dcterms:created xsi:type="dcterms:W3CDTF">2026-10-22T07:24:56Z</dcterms:created>
  <dcterms:modified xsi:type="dcterms:W3CDTF">2026-10-22T07:24:56Z</dcterms:modified>
</cp:coreProperties>
</file>